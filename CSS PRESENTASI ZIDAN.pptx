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2000"/>
  <p:notesSz cx="6858000" cy="9144000"/>
  <p:embeddedFontLst>
    <p:embeddedFont>
      <p:font typeface="Playfair Display"/>
      <p:regular r:id="rId41"/>
      <p:bold r:id="rId42"/>
      <p:italic r:id="rId43"/>
      <p:boldItalic r:id="rId44"/>
    </p:embeddedFont>
    <p:embeddedFont>
      <p:font typeface="Urbanist Light"/>
      <p:regular r:id="rId45"/>
      <p:bold r:id="rId46"/>
      <p:italic r:id="rId47"/>
      <p:boldItalic r:id="rId48"/>
    </p:embeddedFont>
    <p:embeddedFont>
      <p:font typeface="Urbanist"/>
      <p:regular r:id="rId49"/>
      <p:bold r:id="rId50"/>
      <p:italic r:id="rId51"/>
      <p:boldItalic r:id="rId52"/>
    </p:embeddedFont>
    <p:embeddedFont>
      <p:font typeface="Urbanist ExtraBold"/>
      <p:bold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33911A-F46B-41AD-AD44-7BD3781C4F2C}">
  <a:tblStyle styleId="{AA33911A-F46B-41AD-AD44-7BD3781C4F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PlayfairDisplay-bold.fntdata"/><Relationship Id="rId41" Type="http://schemas.openxmlformats.org/officeDocument/2006/relationships/font" Target="fonts/PlayfairDisplay-regular.fntdata"/><Relationship Id="rId44" Type="http://schemas.openxmlformats.org/officeDocument/2006/relationships/font" Target="fonts/PlayfairDisplay-boldItalic.fntdata"/><Relationship Id="rId43" Type="http://schemas.openxmlformats.org/officeDocument/2006/relationships/font" Target="fonts/PlayfairDisplay-italic.fntdata"/><Relationship Id="rId46" Type="http://schemas.openxmlformats.org/officeDocument/2006/relationships/font" Target="fonts/UrbanistLight-bold.fntdata"/><Relationship Id="rId45" Type="http://schemas.openxmlformats.org/officeDocument/2006/relationships/font" Target="fonts/Urbanist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UrbanistLight-boldItalic.fntdata"/><Relationship Id="rId47" Type="http://schemas.openxmlformats.org/officeDocument/2006/relationships/font" Target="fonts/UrbanistLight-italic.fntdata"/><Relationship Id="rId49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Urbanist-italic.fntdata"/><Relationship Id="rId50" Type="http://schemas.openxmlformats.org/officeDocument/2006/relationships/font" Target="fonts/Urbanist-bold.fntdata"/><Relationship Id="rId53" Type="http://schemas.openxmlformats.org/officeDocument/2006/relationships/font" Target="fonts/UrbanistExtraBold-bold.fntdata"/><Relationship Id="rId52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UrbanistExtra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b0ead0f3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b0ead0f3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Relationship Id="rId8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1455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Zidan Maulana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54124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Arsitektur Visual: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CSS Positioning &amp; Layouting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22821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Bagian 01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70882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Dasar CSS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Filosofi Box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EVOLUSI TEKNIK LAYOUTING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4804469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Perkembangan teknologi CSS memungkinkan kita beralih dari peretasan (hacks) menuju sistem desain yang murni deklaratif.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3231951"/>
            <a:ext cx="11049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1438275" y="2726233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16254" y="3392983"/>
            <a:ext cx="23202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1990s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3897808"/>
            <a:ext cx="2209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Table Layouts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3648075" y="2726233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26055" y="3392983"/>
            <a:ext cx="23202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2000s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781300" y="3897808"/>
            <a:ext cx="2209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Floats &amp; Clears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57875" y="2726233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4935855" y="3392983"/>
            <a:ext cx="23202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2010s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991100" y="3897808"/>
            <a:ext cx="2209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Flexbox Mastery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8067675" y="2726233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145655" y="3392983"/>
            <a:ext cx="23202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2017+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200900" y="3897808"/>
            <a:ext cx="2209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CSS Grid Era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0277475" y="2726233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FBBF24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355455" y="3392983"/>
            <a:ext cx="23202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2025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410700" y="3897808"/>
            <a:ext cx="2209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Modern Hybrid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524000" y="1755576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Desain yang baik adalah desain yang terlihat jelas. Desain yang hebat adalah desain yang transparan. 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524000" y="3870126"/>
            <a:ext cx="914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— Joe Sparano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524000" y="4432101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Layouting adalah fondasi di mana transparansi ini dibangun. Pengguna tidak boleh menyadari "grid" yang kita buat, mereka hanya perlu merasakan alurnya.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1374576"/>
            <a:ext cx="419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APA ITU CSS?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4953000" y="2772072"/>
            <a:ext cx="70008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Cascading Style Sheets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953000" y="3276897"/>
            <a:ext cx="6667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CSS bukan sekadar pemberi warna. Ia adalah mesin instruksi yang mengatur bagaimana elemen HTML ditampilkan di berbagai media (layar, cetak, suara).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953000" y="4282380"/>
            <a:ext cx="6667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Dalam konteks layouting, CSS bertanggung jawab atas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geometri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halaman—menentukan ukuran, posisi, dan hubungan antar elemen.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CSS BOX MODEL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1707058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Setiap Elemen adalah Kotak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2211883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Dalam CSS, semua elemen HTML dianggap sebagai kotak persegi panjang. Box model terdiri dari empat lapisan utama: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047750" y="3407866"/>
            <a:ext cx="4762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Content: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Teks atau gambar asli.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47750" y="3922216"/>
            <a:ext cx="4762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Padding: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Ruang di sekitar konten (dalam border).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47750" y="4712791"/>
            <a:ext cx="4762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Border: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Garis tepi yang mengelilingi padding.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47750" y="5227141"/>
            <a:ext cx="4762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Margin: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Ruang di luar border (jarak antar elemen).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078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221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279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27141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7260"/>
            <a:ext cx="5238750" cy="2990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67260"/>
            <a:ext cx="5238750" cy="299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ANALOGI KEHIDUPAN NYATA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2748260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Kotak Sepatu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3253085"/>
            <a:ext cx="44767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Bayangkan Anda memiliki kotak sepatu. Sepatu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Content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kertas pembungkus di dalamnya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Padding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dinding kardus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Border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dan jarak antara kotak Anda dengan kotak lain di rak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Margin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762750" y="2748260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Lukisan Berbingkai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762750" y="3253085"/>
            <a:ext cx="44767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Kanvas lukisan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Content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 Area kosong antara lukisan dan bingkai kayu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Padding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 Bingkai kayu itu sendiri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Border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 Jarak lukisan tersebut dari lukisan lain di dinding galeri adalah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Margin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MARGIN VS PADDING VS BORDER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571500" y="2700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{AA33911A-F46B-41AD-AD44-7BD3781C4F2C}</a:tableStyleId>
              </a:tblPr>
              <a:tblGrid>
                <a:gridCol w="1598425"/>
                <a:gridCol w="1444975"/>
                <a:gridCol w="4347875"/>
                <a:gridCol w="365775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Properti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Posisi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Efek Warna Latar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Interaksi Klik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Padding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Ya (Mengikuti background konten)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Ya (Responsif terhadap klik)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Border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 (Memiliki warna sendiri)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Ya (Bagian dari kotak)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External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 (Selalu transparan)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 (Area di luar elemen)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>
            <a:off x="571500" y="3962400"/>
            <a:ext cx="1598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169914" y="3962400"/>
            <a:ext cx="1444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614886" y="3962400"/>
            <a:ext cx="4347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962751" y="3962400"/>
            <a:ext cx="3657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4581525"/>
            <a:ext cx="1598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169914" y="4581525"/>
            <a:ext cx="1444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614886" y="4581525"/>
            <a:ext cx="4347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7962751" y="4581525"/>
            <a:ext cx="3657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5200650"/>
            <a:ext cx="1598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169914" y="5200650"/>
            <a:ext cx="1444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614886" y="5200650"/>
            <a:ext cx="4347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962751" y="5200650"/>
            <a:ext cx="3657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87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BOX SIZING: SOLUSI PRESISI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3100375"/>
            <a:ext cx="4644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100%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419600" y="2939653"/>
            <a:ext cx="7560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box-sizing: border-box;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419600" y="3444478"/>
            <a:ext cx="720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Secara default (content-box), padding dan border akan menambah lebar elemen. Dengan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border-box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lebar elemen tetap konsisten meskipun Anda menambah padding atau border.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419600" y="4449960"/>
            <a:ext cx="7200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Standar industri modern 2025: Gunakan border-box untuk semua elemen!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UNIT PENGUKURAN UTAMA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3100375"/>
            <a:ext cx="3089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PX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2847975" y="3192065"/>
            <a:ext cx="29622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Absolute: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Ukuran tetap, tidak berubah berdasarkan pengaturan pengguna. Bagus untuk border.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81750" y="3100375"/>
            <a:ext cx="417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REM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944100" y="2856904"/>
            <a:ext cx="1676400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Relative: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Berdasarkan ukuran font akar. Sangat penting untuk aksesibilitas dan responsivitas.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571500" y="22821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Bagian 02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270882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Dinamika Display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Logika Positioning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5239"/>
            <a:ext cx="5238750" cy="1994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97658"/>
            <a:ext cx="5238750" cy="23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DISPLAY: BLOCK VS INLINE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952500" y="3246239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Block Elements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52500" y="3751064"/>
            <a:ext cx="447675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Mengambil lebar penuh kontainernya. Selalu dimulai di baris baru. Contoh: , , 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762750" y="3078658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Inline Elements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762750" y="3583483"/>
            <a:ext cx="4476750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Hanya mengambil lebar sesuai kontennya. Tidak bisa diatur margin top/bottom secara efektif. Contoh: , 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PERBANDINGAN PROPERTI DISPLAY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25"/>
          <p:cNvGraphicFramePr/>
          <p:nvPr/>
        </p:nvGraphicFramePr>
        <p:xfrm>
          <a:off x="571500" y="2390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{AA33911A-F46B-41AD-AD44-7BD3781C4F2C}</a:tableStyleId>
              </a:tblPr>
              <a:tblGrid>
                <a:gridCol w="2133600"/>
                <a:gridCol w="2438400"/>
                <a:gridCol w="2971800"/>
                <a:gridCol w="3505200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Baris Baru?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Lebar/Tinggi?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Padding/Margin?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Bisa diatur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Bisa penuh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 bisa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Hanya horizontal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Inline-Block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Bisa diatur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Bisa penuh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Elemen hilang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Tidak ada box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25"/>
          <p:cNvSpPr/>
          <p:nvPr/>
        </p:nvSpPr>
        <p:spPr>
          <a:xfrm>
            <a:off x="571500" y="3652837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2705100" y="3652837"/>
            <a:ext cx="2438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143500" y="3652837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8115300" y="36528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4271962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2705100" y="4271962"/>
            <a:ext cx="2438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143500" y="4271962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8115300" y="42719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4891087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2705100" y="4891087"/>
            <a:ext cx="2438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143500" y="4891087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8115300" y="489108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5510212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2705100" y="5510212"/>
            <a:ext cx="2438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143500" y="5510212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8115300" y="551021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571500" y="22821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Deep Dive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270882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Menguasai Positioning: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Static ke Sticky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2421"/>
            <a:ext cx="5238750" cy="2319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02421"/>
            <a:ext cx="5238750" cy="23199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STATIC &amp; RELATIVE</a:t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952500" y="3083421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Position: Static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952500" y="358824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Nilai default. Elemen mengikuti aliran normal dokumen. Properti top/right/bottom/left tidak berpengaruh sama sekali.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6762750" y="3083421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Position: Relative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6762750" y="358824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Elemen tetap di alur normal, tapi bisa digeser "relatif" terhadap posisi aslinya tanpa mengganggu elemen di sekitarnya.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POSITION: ABSOLUTE</a:t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571500" y="3100375"/>
            <a:ext cx="4236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FREE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4276725" y="3107233"/>
            <a:ext cx="771096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Keluar dari Aliran Dokumen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4276725" y="3612058"/>
            <a:ext cx="73437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Elemen absolut diposisikan relatif terhadap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leluhur terdekat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yang memiliki posisi (bukan static). Jika tidak ada, ia akan relatif terhadap body.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4276725" y="4282380"/>
            <a:ext cx="7343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Gunakan ini untuk overlay, ikon notifikasi, atau elemen dekoratif bebas.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POSITION: FIXED</a:t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9"/>
          <p:cNvSpPr txBox="1"/>
          <p:nvPr/>
        </p:nvSpPr>
        <p:spPr>
          <a:xfrm>
            <a:off x="571500" y="2667510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Relatif terhadap Viewport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571500" y="3055703"/>
            <a:ext cx="5238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Elemen tetap di posisi yang sama meskipun halaman di-scroll. Ia benar-benar lepas dari alur dokumen halaman.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571500" y="4173116"/>
            <a:ext cx="5238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Aplikasi Umum: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Navbar yang selalu menempel di atas atau tombol "Back to Top".</a:t>
            </a:r>
            <a:endParaRPr/>
          </a:p>
        </p:txBody>
      </p:sp>
      <p:pic>
        <p:nvPicPr>
          <p:cNvPr descr="image.png" id="299" name="Google Shape;29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POSITION: STICKY (HYBRID)</a:t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0"/>
          <p:cNvSpPr txBox="1"/>
          <p:nvPr/>
        </p:nvSpPr>
        <p:spPr>
          <a:xfrm>
            <a:off x="571500" y="2169914"/>
            <a:ext cx="1104900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Sticky adalah perpaduan antara relative dan fixed. Ia berperilaku normal sampai mencapai ambang batas (threshold) yang ditentukan.</a:t>
            </a:r>
            <a:endParaRPr/>
          </a:p>
        </p:txBody>
      </p:sp>
      <p:graphicFrame>
        <p:nvGraphicFramePr>
          <p:cNvPr id="308" name="Google Shape;308;p30"/>
          <p:cNvGraphicFramePr/>
          <p:nvPr/>
        </p:nvGraphicFramePr>
        <p:xfrm>
          <a:off x="571500" y="3040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{AA33911A-F46B-41AD-AD44-7BD3781C4F2C}</a:tableStyleId>
              </a:tblPr>
              <a:tblGrid>
                <a:gridCol w="4439250"/>
                <a:gridCol w="660975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Kondisi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Perilaku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Sebelum Scroll 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Berperilaku seperti 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Relative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Mencapai Top: 0 (Contoh)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Berperilaku seperti 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Fixed</a:t>
                      </a: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(menempel)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Mencapai Akhir Parent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Akan berhenti menempel (ikut tergulung)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30"/>
          <p:cNvSpPr/>
          <p:nvPr/>
        </p:nvSpPr>
        <p:spPr>
          <a:xfrm>
            <a:off x="571500" y="4302323"/>
            <a:ext cx="4439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5010745" y="4302323"/>
            <a:ext cx="6609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571500" y="4921448"/>
            <a:ext cx="4439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5010745" y="4921448"/>
            <a:ext cx="6609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571500" y="5540573"/>
            <a:ext cx="4439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5010745" y="5540573"/>
            <a:ext cx="6609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Z-INDEX: DIMENSI KETIGA</a:t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3" name="Google Shape;32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1"/>
          <p:cNvSpPr txBox="1"/>
          <p:nvPr/>
        </p:nvSpPr>
        <p:spPr>
          <a:xfrm>
            <a:off x="6381750" y="252248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Stacking Order</a:t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6381750" y="302731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Z-index menentukan elemen mana yang berada "di atas" elemen lain secara visual (pada sumbu Z).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6381750" y="369763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Syarat: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Z-index hanya bekerja pada elemen yang memiliki posisi (relative, absolute, fixed, atau sticky).</a:t>
            </a:r>
            <a:endParaRPr/>
          </a:p>
        </p:txBody>
      </p:sp>
      <p:pic>
        <p:nvPicPr>
          <p:cNvPr descr="image.png" id="327" name="Google Shape;32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67956"/>
            <a:ext cx="5238750" cy="834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3269"/>
            <a:ext cx="3492400" cy="2078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23269"/>
            <a:ext cx="3492549" cy="2078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823269"/>
            <a:ext cx="3492400" cy="207823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KAPAN MENGGUNAKAN APA?</a:t>
            </a:r>
            <a:endParaRPr/>
          </a:p>
        </p:txBody>
      </p:sp>
      <p:sp>
        <p:nvSpPr>
          <p:cNvPr id="337" name="Google Shape;337;p32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8" name="Google Shape;33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3109019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2"/>
          <p:cNvSpPr txBox="1"/>
          <p:nvPr/>
        </p:nvSpPr>
        <p:spPr>
          <a:xfrm>
            <a:off x="784227" y="3775769"/>
            <a:ext cx="3066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Absolute</a:t>
            </a: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857250" y="4280594"/>
            <a:ext cx="2920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Tooltips &amp; Dropdowns</a:t>
            </a:r>
            <a:endParaRPr/>
          </a:p>
        </p:txBody>
      </p:sp>
      <p:pic>
        <p:nvPicPr>
          <p:cNvPr descr="image.png" id="341" name="Google Shape;34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151" y="3109019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4562374" y="3775769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Fixed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4635400" y="4280594"/>
            <a:ext cx="292104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Main Nav &amp; Sidebars</a:t>
            </a:r>
            <a:endParaRPr/>
          </a:p>
        </p:txBody>
      </p:sp>
      <p:pic>
        <p:nvPicPr>
          <p:cNvPr descr="image.png" id="344" name="Google Shape;344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3175" y="3109019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/>
        </p:nvSpPr>
        <p:spPr>
          <a:xfrm>
            <a:off x="8340677" y="3775769"/>
            <a:ext cx="3066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Sticky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8413700" y="4280594"/>
            <a:ext cx="2920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Table Headers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571500" y="22821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Bagian 03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571500" y="270882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Flexbox Mastery: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Layout Satu Dimensi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7658"/>
            <a:ext cx="5238750" cy="2329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02421"/>
            <a:ext cx="5238750" cy="23199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CONTAINER VS ITEMS</a:t>
            </a:r>
            <a:endParaRPr/>
          </a:p>
        </p:txBody>
      </p:sp>
      <p:sp>
        <p:nvSpPr>
          <p:cNvPr id="362" name="Google Shape;362;p34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952500" y="3078658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Flex Container</a:t>
            </a: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952500" y="3583483"/>
            <a:ext cx="4476750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Elemen induk dengan display: flex. Mengatur arah (row/column), perataan, dan pembungkusan.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6762750" y="3083421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Flex Items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6762750" y="358824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Anak langsung dari container. Mengatur pertumbuhan (grow), penyusutan (shrink), dan urutan (order).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JUSTIFY &amp; ALIGN</a:t>
            </a:r>
            <a:endParaRPr/>
          </a:p>
        </p:txBody>
      </p:sp>
      <p:sp>
        <p:nvSpPr>
          <p:cNvPr id="373" name="Google Shape;373;p3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1047750" y="295275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Justify-Content: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Menyelaraskan item di sepanjang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Main Axis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(biasanya horizontal). Contoh: center, space-between.</a:t>
            </a:r>
            <a:endParaRPr/>
          </a:p>
        </p:txBody>
      </p:sp>
      <p:sp>
        <p:nvSpPr>
          <p:cNvPr id="375" name="Google Shape;375;p35"/>
          <p:cNvSpPr txBox="1"/>
          <p:nvPr/>
        </p:nvSpPr>
        <p:spPr>
          <a:xfrm>
            <a:off x="1047750" y="3743325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Align-Items: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Menyelaraskan item di sepanjang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Cross Axis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(biasanya vertikal). Contoh: center, stretch.</a:t>
            </a:r>
            <a:endParaRPr/>
          </a:p>
        </p:txBody>
      </p:sp>
      <p:sp>
        <p:nvSpPr>
          <p:cNvPr id="376" name="Google Shape;376;p35"/>
          <p:cNvSpPr txBox="1"/>
          <p:nvPr/>
        </p:nvSpPr>
        <p:spPr>
          <a:xfrm>
            <a:off x="1047750" y="4257675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Align-Self: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Mengizinkan item individu untuk mengganti perataan default dari container.</a:t>
            </a:r>
            <a:endParaRPr/>
          </a:p>
        </p:txBody>
      </p:sp>
      <p:pic>
        <p:nvPicPr>
          <p:cNvPr descr="image.png" id="377" name="Google Shape;3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27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33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5767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DIRECTION &amp; WRAP</a:t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1047750" y="295275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Flex-Direction: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Menentukan arah alur item (row, column, row-reverse).</a:t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1047750" y="34671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Flex-Wrap: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Menentukan apakah item harus membungkus ke baris baru jika ruang tidak cukup. Sangat penting untuk responsivitas.</a:t>
            </a:r>
            <a:endParaRPr/>
          </a:p>
        </p:txBody>
      </p:sp>
      <p:sp>
        <p:nvSpPr>
          <p:cNvPr id="389" name="Google Shape;389;p36"/>
          <p:cNvSpPr txBox="1"/>
          <p:nvPr/>
        </p:nvSpPr>
        <p:spPr>
          <a:xfrm>
            <a:off x="1047750" y="4257675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Gap: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Cara modern (2025) untuk mengatur jarak antar item tanpa margin yang berantakan.</a:t>
            </a:r>
            <a:endParaRPr/>
          </a:p>
        </p:txBody>
      </p:sp>
      <p:pic>
        <p:nvPicPr>
          <p:cNvPr descr="image.png" id="390" name="Google Shape;39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27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7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5767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7" name="Google Shape;3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7133"/>
            <a:ext cx="349240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07133"/>
            <a:ext cx="3492549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307133"/>
            <a:ext cx="3492400" cy="311050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MENGAPA FLEXBOX?</a:t>
            </a:r>
            <a:endParaRPr/>
          </a:p>
        </p:txBody>
      </p:sp>
      <p:sp>
        <p:nvSpPr>
          <p:cNvPr id="402" name="Google Shape;402;p3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3" name="Google Shape;40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59288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784227" y="3259633"/>
            <a:ext cx="3066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Penyelarasan Mudah</a:t>
            </a:r>
            <a:endParaRPr/>
          </a:p>
        </p:txBody>
      </p:sp>
      <p:sp>
        <p:nvSpPr>
          <p:cNvPr id="405" name="Google Shape;405;p37"/>
          <p:cNvSpPr txBox="1"/>
          <p:nvPr/>
        </p:nvSpPr>
        <p:spPr>
          <a:xfrm>
            <a:off x="857250" y="3764458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Memusatkan elemen secara vertikal &amp; horizontal hanya dengan 3 baris CSS.</a:t>
            </a:r>
            <a:endParaRPr/>
          </a:p>
        </p:txBody>
      </p:sp>
      <p:pic>
        <p:nvPicPr>
          <p:cNvPr descr="image.png" id="406" name="Google Shape;406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301" y="2592883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7"/>
          <p:cNvSpPr txBox="1"/>
          <p:nvPr/>
        </p:nvSpPr>
        <p:spPr>
          <a:xfrm>
            <a:off x="4562374" y="3259633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Fleksibilitas Sizing</a:t>
            </a:r>
            <a:endParaRPr/>
          </a:p>
        </p:txBody>
      </p:sp>
      <p:sp>
        <p:nvSpPr>
          <p:cNvPr id="408" name="Google Shape;408;p37"/>
          <p:cNvSpPr txBox="1"/>
          <p:nvPr/>
        </p:nvSpPr>
        <p:spPr>
          <a:xfrm>
            <a:off x="4635400" y="3764458"/>
            <a:ext cx="29210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Item dapat tumbuh untuk mengisi ruang kosong secara proporsional.</a:t>
            </a:r>
            <a:endParaRPr/>
          </a:p>
        </p:txBody>
      </p:sp>
      <p:pic>
        <p:nvPicPr>
          <p:cNvPr descr="image.png" id="409" name="Google Shape;40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3175" y="2592883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7"/>
          <p:cNvSpPr txBox="1"/>
          <p:nvPr/>
        </p:nvSpPr>
        <p:spPr>
          <a:xfrm>
            <a:off x="8340677" y="3259633"/>
            <a:ext cx="306694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Responsif Tanpa Float</a:t>
            </a:r>
            <a:endParaRPr/>
          </a:p>
        </p:txBody>
      </p:sp>
      <p:sp>
        <p:nvSpPr>
          <p:cNvPr id="411" name="Google Shape;411;p37"/>
          <p:cNvSpPr txBox="1"/>
          <p:nvPr/>
        </p:nvSpPr>
        <p:spPr>
          <a:xfrm>
            <a:off x="8413700" y="4126408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Aliran konten yang natural tanpa perlu perhitungan matematika rumit.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8"/>
          <p:cNvSpPr txBox="1"/>
          <p:nvPr/>
        </p:nvSpPr>
        <p:spPr>
          <a:xfrm>
            <a:off x="571500" y="22821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Bagian 04</a:t>
            </a:r>
            <a:endParaRPr/>
          </a:p>
        </p:txBody>
      </p:sp>
      <p:sp>
        <p:nvSpPr>
          <p:cNvPr id="418" name="Google Shape;418;p38"/>
          <p:cNvSpPr txBox="1"/>
          <p:nvPr/>
        </p:nvSpPr>
        <p:spPr>
          <a:xfrm>
            <a:off x="571500" y="270882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CSS Grid Power: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Arsitektur Dua Dimensi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GRID TRACKS &amp; CELLS</a:t>
            </a:r>
            <a:endParaRPr/>
          </a:p>
        </p:txBody>
      </p:sp>
      <p:sp>
        <p:nvSpPr>
          <p:cNvPr id="425" name="Google Shape;425;p3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6" name="Google Shape;426;p39"/>
          <p:cNvGraphicFramePr/>
          <p:nvPr/>
        </p:nvGraphicFramePr>
        <p:xfrm>
          <a:off x="571500" y="23764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{AA33911A-F46B-41AD-AD44-7BD3781C4F2C}</a:tableStyleId>
              </a:tblPr>
              <a:tblGrid>
                <a:gridCol w="2548525"/>
                <a:gridCol w="8500475"/>
              </a:tblGrid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Konsep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Penjelasan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Grid Container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Elemen dengan display: grid.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Grid Track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Ruang antara dua garis grid (baris atau kolom).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Grid 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ruang yang dikelilingi oleh empat garis grid.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Unit FR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Fractional unit—satuan fleksibel untuk membagi ruang sisa.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27" name="Google Shape;427;p39"/>
          <p:cNvSpPr/>
          <p:nvPr/>
        </p:nvSpPr>
        <p:spPr>
          <a:xfrm>
            <a:off x="571500" y="3667125"/>
            <a:ext cx="2548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3120032" y="3667125"/>
            <a:ext cx="850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9"/>
          <p:cNvSpPr/>
          <p:nvPr/>
        </p:nvSpPr>
        <p:spPr>
          <a:xfrm>
            <a:off x="571500" y="4286250"/>
            <a:ext cx="2548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9"/>
          <p:cNvSpPr/>
          <p:nvPr/>
        </p:nvSpPr>
        <p:spPr>
          <a:xfrm>
            <a:off x="3120032" y="4286250"/>
            <a:ext cx="850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571500" y="4905375"/>
            <a:ext cx="2548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3120032" y="4905375"/>
            <a:ext cx="850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571500" y="5524500"/>
            <a:ext cx="2548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9"/>
          <p:cNvSpPr/>
          <p:nvPr/>
        </p:nvSpPr>
        <p:spPr>
          <a:xfrm>
            <a:off x="3120032" y="5524500"/>
            <a:ext cx="850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9" name="Google Shape;43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CSS SUBGRID 2025</a:t>
            </a:r>
            <a:endParaRPr/>
          </a:p>
        </p:txBody>
      </p:sp>
      <p:sp>
        <p:nvSpPr>
          <p:cNvPr id="441" name="Google Shape;441;p40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571500" y="3100375"/>
            <a:ext cx="42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NEW</a:t>
            </a:r>
            <a:endParaRPr/>
          </a:p>
        </p:txBody>
      </p:sp>
      <p:sp>
        <p:nvSpPr>
          <p:cNvPr id="443" name="Google Shape;443;p40"/>
          <p:cNvSpPr txBox="1"/>
          <p:nvPr/>
        </p:nvSpPr>
        <p:spPr>
          <a:xfrm>
            <a:off x="4238625" y="2939653"/>
            <a:ext cx="77509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Subgrid: Pewarisan Layout</a:t>
            </a:r>
            <a:endParaRPr/>
          </a:p>
        </p:txBody>
      </p:sp>
      <p:sp>
        <p:nvSpPr>
          <p:cNvPr id="444" name="Google Shape;444;p40"/>
          <p:cNvSpPr txBox="1"/>
          <p:nvPr/>
        </p:nvSpPr>
        <p:spPr>
          <a:xfrm>
            <a:off x="4238625" y="3444478"/>
            <a:ext cx="7381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Sekarang elemen anak bisa mewarisi jalur grid dari induknya. Ini memungkinkan keselarasan sempurna antar kartu (card) meskipun konten di dalamnya berbeda-beda.</a:t>
            </a:r>
            <a:endParaRPr/>
          </a:p>
        </p:txBody>
      </p:sp>
      <p:sp>
        <p:nvSpPr>
          <p:cNvPr id="445" name="Google Shape;445;p40"/>
          <p:cNvSpPr txBox="1"/>
          <p:nvPr/>
        </p:nvSpPr>
        <p:spPr>
          <a:xfrm>
            <a:off x="4238625" y="4449960"/>
            <a:ext cx="7381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Dukungan browser sudah mencapai &gt;90% di tahun 2025!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2421"/>
            <a:ext cx="5238750" cy="2319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02421"/>
            <a:ext cx="5238750" cy="231993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FLEXBOX VS CSS GRID</a:t>
            </a:r>
            <a:endParaRPr/>
          </a:p>
        </p:txBody>
      </p:sp>
      <p:sp>
        <p:nvSpPr>
          <p:cNvPr id="454" name="Google Shape;454;p4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1"/>
          <p:cNvSpPr txBox="1"/>
          <p:nvPr/>
        </p:nvSpPr>
        <p:spPr>
          <a:xfrm>
            <a:off x="952500" y="3083421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Flexbox (Content-Out)</a:t>
            </a:r>
            <a:endParaRPr/>
          </a:p>
        </p:txBody>
      </p:sp>
      <p:sp>
        <p:nvSpPr>
          <p:cNvPr id="456" name="Google Shape;456;p41"/>
          <p:cNvSpPr txBox="1"/>
          <p:nvPr/>
        </p:nvSpPr>
        <p:spPr>
          <a:xfrm>
            <a:off x="952500" y="358824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Terbaik untuk komponen kecil, deretan tombol, navbar, atau item yang ukurannya ditentukan oleh kontennya sendiri.</a:t>
            </a:r>
            <a:endParaRPr/>
          </a:p>
        </p:txBody>
      </p:sp>
      <p:sp>
        <p:nvSpPr>
          <p:cNvPr id="457" name="Google Shape;457;p41"/>
          <p:cNvSpPr txBox="1"/>
          <p:nvPr/>
        </p:nvSpPr>
        <p:spPr>
          <a:xfrm>
            <a:off x="6762750" y="3083421"/>
            <a:ext cx="47005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CSS Grid (Layout-In)</a:t>
            </a:r>
            <a:endParaRPr/>
          </a:p>
        </p:txBody>
      </p:sp>
      <p:sp>
        <p:nvSpPr>
          <p:cNvPr id="458" name="Google Shape;458;p41"/>
          <p:cNvSpPr txBox="1"/>
          <p:nvPr/>
        </p:nvSpPr>
        <p:spPr>
          <a:xfrm>
            <a:off x="6762750" y="358824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Terbaik untuk struktur halaman besar, dashboard kompleks, majalah digital, atau layout yang butuh presisi baris &amp; kolom.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3" name="Google Shape;46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2"/>
          <p:cNvSpPr txBox="1"/>
          <p:nvPr/>
        </p:nvSpPr>
        <p:spPr>
          <a:xfrm>
            <a:off x="571500" y="22821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Bagian 05</a:t>
            </a:r>
            <a:endParaRPr/>
          </a:p>
        </p:txBody>
      </p:sp>
      <p:sp>
        <p:nvSpPr>
          <p:cNvPr id="465" name="Google Shape;465;p42"/>
          <p:cNvSpPr txBox="1"/>
          <p:nvPr/>
        </p:nvSpPr>
        <p:spPr>
          <a:xfrm>
            <a:off x="571500" y="270882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 Responsif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Praktik Terbaik 2025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0" name="Google Shape;47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DEVICE DIVERSITY TRENDS</a:t>
            </a:r>
            <a:endParaRPr/>
          </a:p>
        </p:txBody>
      </p:sp>
      <p:sp>
        <p:nvSpPr>
          <p:cNvPr id="473" name="Google Shape;473;p43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3"/>
          <p:cNvSpPr txBox="1"/>
          <p:nvPr/>
        </p:nvSpPr>
        <p:spPr>
          <a:xfrm>
            <a:off x="571500" y="166985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Layouting modern tidak lagi tentang satu ukuran layar. Kita harus mendesain untuk spektrum perangkat yang luas.</a:t>
            </a:r>
            <a:endParaRPr/>
          </a:p>
        </p:txBody>
      </p:sp>
      <p:sp>
        <p:nvSpPr>
          <p:cNvPr id="475" name="Google Shape;475;p43"/>
          <p:cNvSpPr txBox="1"/>
          <p:nvPr/>
        </p:nvSpPr>
        <p:spPr>
          <a:xfrm>
            <a:off x="571500" y="571976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Gunakan Media Queries &amp; Container Queries secara bersamaan!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0" name="Google Shape;48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KESIMPULAN &amp; TAKEAWAYS</a:t>
            </a:r>
            <a:endParaRPr/>
          </a:p>
        </p:txBody>
      </p:sp>
      <p:sp>
        <p:nvSpPr>
          <p:cNvPr id="482" name="Google Shape;482;p44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4"/>
          <p:cNvSpPr txBox="1"/>
          <p:nvPr/>
        </p:nvSpPr>
        <p:spPr>
          <a:xfrm>
            <a:off x="1047750" y="2562225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Gunakan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Box Model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dengan border-box untuk menghindari kejutan ukuran.</a:t>
            </a:r>
            <a:endParaRPr/>
          </a:p>
        </p:txBody>
      </p:sp>
      <p:sp>
        <p:nvSpPr>
          <p:cNvPr id="484" name="Google Shape;484;p44"/>
          <p:cNvSpPr txBox="1"/>
          <p:nvPr/>
        </p:nvSpPr>
        <p:spPr>
          <a:xfrm>
            <a:off x="1047750" y="310515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Pahami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Positioning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untuk kontrol elemen individu (overlay, nav fixed).</a:t>
            </a:r>
            <a:endParaRPr/>
          </a:p>
        </p:txBody>
      </p:sp>
      <p:sp>
        <p:nvSpPr>
          <p:cNvPr id="485" name="Google Shape;485;p44"/>
          <p:cNvSpPr txBox="1"/>
          <p:nvPr/>
        </p:nvSpPr>
        <p:spPr>
          <a:xfrm>
            <a:off x="1047750" y="361950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Pilih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Flexbox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untuk satu dimensi (alignment komponen).</a:t>
            </a:r>
            <a:endParaRPr/>
          </a:p>
        </p:txBody>
      </p:sp>
      <p:sp>
        <p:nvSpPr>
          <p:cNvPr id="486" name="Google Shape;486;p44"/>
          <p:cNvSpPr txBox="1"/>
          <p:nvPr/>
        </p:nvSpPr>
        <p:spPr>
          <a:xfrm>
            <a:off x="1047750" y="413385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Pilih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CSS Grid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untuk dua dimensi (struktur halaman).</a:t>
            </a:r>
            <a:endParaRPr/>
          </a:p>
        </p:txBody>
      </p:sp>
      <p:sp>
        <p:nvSpPr>
          <p:cNvPr id="487" name="Google Shape;487;p44"/>
          <p:cNvSpPr txBox="1"/>
          <p:nvPr/>
        </p:nvSpPr>
        <p:spPr>
          <a:xfrm>
            <a:off x="1047750" y="464820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Selalu utamakan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Aksesibilitas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dan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Performa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dalam setiap keputusan layout.</a:t>
            </a:r>
            <a:endParaRPr/>
          </a:p>
        </p:txBody>
      </p:sp>
      <p:pic>
        <p:nvPicPr>
          <p:cNvPr descr="image.png" id="488" name="Google Shape;48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51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195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33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82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7" name="Google Shape;49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5"/>
          <p:cNvSpPr txBox="1"/>
          <p:nvPr/>
        </p:nvSpPr>
        <p:spPr>
          <a:xfrm>
            <a:off x="1830950" y="2686625"/>
            <a:ext cx="8439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TERIMA KASIH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3" name="Google Shape;5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6"/>
          <p:cNvSpPr txBox="1"/>
          <p:nvPr/>
        </p:nvSpPr>
        <p:spPr>
          <a:xfrm>
            <a:off x="295275" y="2181225"/>
            <a:ext cx="11601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TANYA JAWAB</a:t>
            </a:r>
            <a:endParaRPr/>
          </a:p>
        </p:txBody>
      </p:sp>
      <p:sp>
        <p:nvSpPr>
          <p:cNvPr id="505" name="Google Shape;505;p46"/>
          <p:cNvSpPr txBox="1"/>
          <p:nvPr/>
        </p:nvSpPr>
        <p:spPr>
          <a:xfrm>
            <a:off x="571500" y="3629025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Waktunya Diskusi</a:t>
            </a:r>
            <a:endParaRPr/>
          </a:p>
        </p:txBody>
      </p:sp>
      <p:sp>
        <p:nvSpPr>
          <p:cNvPr id="506" name="Google Shape;506;p46"/>
          <p:cNvSpPr txBox="1"/>
          <p:nvPr/>
        </p:nvSpPr>
        <p:spPr>
          <a:xfrm>
            <a:off x="571500" y="434146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Terima kasih atas perhatian Anda. Ada pertanyaan seputar CSS Layouting?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